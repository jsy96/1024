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定位：给居家养老服务公司提供可接单的本地软件配置、培训与结算交付服务。平台仅向公司收费；社区与个人免费使用平台。上门服务用服务币消费，服务本身并非免费。全部样例为虚构，无真实客户、充值或履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需求来自社区养老协同和公司结算场景，尚未用真实客户访谈验证。本次比赛展示可运行产品与样例交付；下一步用目标公司的现有台账验证需求及付费意愿。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演示已实现四类角色及公司、社区、员工、顾客的访问范围控制。顾客没有固定服务员绑定，可选择所在社区有效签约公司的服务员。公司订阅与老人服务币分开核算。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截图来自当前独立虚构样例库，没有使用线上或真实老人数据。预约支持按时薪与时长报价，并为未完成订单预留额度，防止同一余额重复预约。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已有按日期查看的电瓶车行程估算：根据预约时间排序，估算骑行、天气影响、午餐占用、续航和冲突。高德骑行路线和天气需要联网。用户提出提前一天自动提醒，比赛版先展示可查询的次日行程，系统推送列为下一阶段，不声称已经自动发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截图中的定位为自动化模拟，图片是标明演示用途的几何插画，不是真实履约证明。系统校验图片文件与流程必填项，不能自动证明服务真实发生、识别人脸或验证拍摄时间。社区与公司仍须核验。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样例账户：期初600、社区补贴200、充值记账100，两笔已留存演示凭证的服务扣除120和60，剩余720服务币。充值没有真实收款；系统保存线下凭据或业务依据。发放批次、订单完成、退款和冲正均防止重复。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例数据真实从产品API产生，但全部业务均为模拟。4个结算依据批次分别对应2家公司和2名员工。服务币和酬金核算单位不是人民币。结算单只提供核算依据，不表示已经结账、发薪或转账。已结算订单如退款，系统追加负数调整，进入后续批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收费服务可以由公司采购：本地产品安装、基础配置和培训，再交付首期结算样例。材料已包含独立演示数据库、PPTX/PDF、HTML/PDF和CSV明细，便于评委直接验收。当前是Mac本地演示，未部署到线上。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述人民币价格是用户批准使用的待验证建议，未声称已经收费。按公司订阅、按服务员规模分档；更大规模协商。个人与社区免费使用平台，老人购买上门服务仍消耗服务币。订阅费、服务币补贴、服务消费、员工酬金分开核算；当前没有订阅扣费或真实支付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顾客预约是下一步扩展，不替代社区的补贴与高龄老人服务。普通预约只用平台促成预约，线下自行结算，不发也不扣虚拟服务币，不进入社区补贴账本。分享链接展示服务项目、可预约时间和服务履历；公开范围、评价和可预约范围待试点确认。AI 用于降低服务员使用门槛，例如路线、提醒、摘要和异常提示。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居家上门服务与一般到店服务不同：进入私人家庭、涉及老人与家属授权、现场安全和长期信任。产品通过合同准入、订单级打卡合影、范围控制和原始记录提高可核验性，但不能代替身份审查、人工核验或紧急救助。照片必须取得老人及必要监护人同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P包含Mac源代码、启动脚本、独立虚构演示库、比赛材料、项目介绍视频、Mac启动视频和4:3封面。不依赖线上部署。首次安装依赖需要网络；定位需Mac与浏览器权限。当前通过64项业务与权限检查及四端浏览器操作核验。演示数据不能当作真实客户、业绩或履约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PingFang SC"/>
              </a:defRPr>
            </a:pPr>
          </a:p>
        </p:txBody>
      </p:sp>
      <p:cxnSp>
        <p:nvCxnSpPr>
          <p:cNvPr id="3" name="Connector 2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D7E2EF"/>
                </a:solidFill>
                <a:latin typeface="PingFang SC"/>
              </a:defRPr>
            </a:pPr>
            <a:r>
              <a:rPr sz="950" b="0">
                <a:solidFill>
                  <a:srgbClr val="D7E2EF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7E2EF"/>
                </a:solidFill>
                <a:latin typeface="Arial"/>
              </a:defRPr>
            </a:pPr>
            <a:r>
              <a:rPr sz="1100" b="0">
                <a:solidFill>
                  <a:srgbClr val="D7E2EF"/>
                </a:solidFill>
                <a:latin typeface="Arial"/>
                <a:ea typeface="PingFang SC"/>
              </a:rPr>
              <a:t>01 / 13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694944" y="502920"/>
            <a:ext cx="228600" cy="173736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23544" y="502920"/>
            <a:ext cx="228600" cy="173736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8" y="640080"/>
            <a:ext cx="0" cy="283464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8" y="923544"/>
            <a:ext cx="347472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7280" y="640080"/>
            <a:ext cx="0" cy="283464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eart 10"/>
          <p:cNvSpPr/>
          <p:nvPr/>
        </p:nvSpPr>
        <p:spPr>
          <a:xfrm>
            <a:off x="845820" y="704088"/>
            <a:ext cx="155448" cy="137160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PingFang SC"/>
              </a:defRPr>
            </a:pPr>
            <a:r>
              <a:rPr sz="5000" b="1">
                <a:solidFill>
                  <a:srgbClr val="FFFFFF"/>
                </a:solidFill>
                <a:latin typeface="PingFang SC"/>
                <a:ea typeface="PingFang SC"/>
              </a:rPr>
              <a:t>颐养通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97480"/>
            <a:ext cx="66751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</a:rPr>
              <a:t>让每笔养老服务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PingFang SC"/>
              </a:defRPr>
            </a:pPr>
            <a:r>
              <a:rPr sz="3200" b="1">
                <a:solidFill>
                  <a:srgbClr val="FFFFFF"/>
                </a:solidFill>
                <a:latin typeface="PingFang SC"/>
                <a:ea typeface="PingFang SC"/>
              </a:rPr>
              <a:t>有记录、有依据、能对账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08576"/>
            <a:ext cx="6537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7E2EF"/>
                </a:solidFill>
                <a:latin typeface="PingFang SC"/>
              </a:defRPr>
            </a:pPr>
            <a:r>
              <a:rPr sz="1800" b="0">
                <a:solidFill>
                  <a:srgbClr val="D7E2EF"/>
                </a:solidFill>
                <a:latin typeface="PingFang SC"/>
                <a:ea typeface="PingFang SC"/>
              </a:rPr>
              <a:t>为居家养老服务公司提供预约、履约与结算工具。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95544"/>
            <a:ext cx="6629400" cy="56692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32704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PingFang SC"/>
              </a:defRPr>
            </a:pPr>
            <a:r>
              <a:rPr sz="1900" b="1">
                <a:solidFill>
                  <a:srgbClr val="FFFFFF"/>
                </a:solidFill>
                <a:latin typeface="PingFang SC"/>
                <a:ea typeface="PingFang SC"/>
              </a:rPr>
              <a:t>公司付费 · 个人与社区免费使用平台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536192"/>
            <a:ext cx="35021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7" y="1682495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PingFang SC"/>
              </a:defRPr>
            </a:pPr>
            <a:r>
              <a:rPr sz="2200" b="1">
                <a:solidFill>
                  <a:srgbClr val="2563EB"/>
                </a:solidFill>
                <a:latin typeface="PingFang SC"/>
                <a:ea typeface="PingFang SC"/>
              </a:rPr>
              <a:t>社区签约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209397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高龄补贴入账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2651760"/>
            <a:ext cx="35021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7" y="2798064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PingFang SC"/>
              </a:defRPr>
            </a:pPr>
            <a:r>
              <a:rPr sz="2200" b="1">
                <a:solidFill>
                  <a:srgbClr val="2563EB"/>
                </a:solidFill>
                <a:latin typeface="PingFang SC"/>
                <a:ea typeface="PingFang SC"/>
              </a:rPr>
              <a:t>老人选人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3209544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跨签约公司预约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82127" y="3767328"/>
            <a:ext cx="35021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7" y="391363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PingFang SC"/>
              </a:defRPr>
            </a:pPr>
            <a:r>
              <a:rPr sz="2200" b="1">
                <a:solidFill>
                  <a:srgbClr val="2563EB"/>
                </a:solidFill>
                <a:latin typeface="PingFang SC"/>
                <a:ea typeface="PingFang SC"/>
              </a:rPr>
              <a:t>上门留痕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7" y="432511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地址打卡＋结束合影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4882896"/>
            <a:ext cx="35021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7" y="50292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PingFang SC"/>
              </a:defRPr>
            </a:pPr>
            <a:r>
              <a:rPr sz="2200" b="1">
                <a:solidFill>
                  <a:srgbClr val="2563EB"/>
                </a:solidFill>
                <a:latin typeface="PingFang SC"/>
                <a:ea typeface="PingFang SC"/>
              </a:rPr>
              <a:t>双层结算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544068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公司对账＋员工酬金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服务谁，解决哪笔账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目标买方：有固定服务员、社区合作和持续上门订单的居家养老服务公司。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10512"/>
            <a:ext cx="2990088" cy="4315968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563EB"/>
                </a:solidFill>
                <a:latin typeface="PingFang SC"/>
              </a:defRPr>
            </a:pPr>
            <a:r>
              <a:rPr sz="2200" b="1">
                <a:solidFill>
                  <a:srgbClr val="2563EB"/>
                </a:solidFill>
                <a:latin typeface="PingFang SC"/>
                <a:ea typeface="PingFang SC"/>
              </a:rPr>
              <a:t>谁会付钱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07208"/>
            <a:ext cx="245973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3456"/>
                </a:solidFill>
                <a:latin typeface="PingFang SC"/>
              </a:defRPr>
            </a:pPr>
            <a:r>
              <a:rPr sz="2700" b="1">
                <a:solidFill>
                  <a:srgbClr val="183456"/>
                </a:solidFill>
                <a:latin typeface="PingFang SC"/>
                <a:ea typeface="PingFang SC"/>
              </a:rPr>
              <a:t>公司负责人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3456"/>
                </a:solidFill>
                <a:latin typeface="PingFang SC"/>
              </a:defRPr>
            </a:pPr>
            <a:r>
              <a:rPr sz="2700" b="1">
                <a:solidFill>
                  <a:srgbClr val="183456"/>
                </a:solidFill>
                <a:latin typeface="PingFang SC"/>
                <a:ea typeface="PingFang SC"/>
              </a:rPr>
              <a:t>运营与财务主管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99432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48C"/>
                </a:solidFill>
                <a:latin typeface="PingFang SC"/>
              </a:defRPr>
            </a:pPr>
            <a:r>
              <a:rPr sz="1800" b="0">
                <a:solidFill>
                  <a:srgbClr val="60748C"/>
                </a:solidFill>
                <a:latin typeface="PingFang SC"/>
                <a:ea typeface="PingFang SC"/>
              </a:rPr>
              <a:t>购买结果：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48C"/>
                </a:solidFill>
                <a:latin typeface="PingFang SC"/>
              </a:defRPr>
            </a:pPr>
            <a:r>
              <a:rPr sz="1800" b="0">
                <a:solidFill>
                  <a:srgbClr val="60748C"/>
                </a:solidFill>
                <a:latin typeface="PingFang SC"/>
                <a:ea typeface="PingFang SC"/>
              </a:rPr>
              <a:t>把上门服务转成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48C"/>
                </a:solidFill>
                <a:latin typeface="PingFang SC"/>
              </a:defRPr>
            </a:pPr>
            <a:r>
              <a:rPr sz="1800" b="0">
                <a:solidFill>
                  <a:srgbClr val="60748C"/>
                </a:solidFill>
                <a:latin typeface="PingFang SC"/>
                <a:ea typeface="PingFang SC"/>
              </a:rPr>
              <a:t>可核验的结算明细。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1901952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公司与社区对账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2423160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补贴、消费、服务凭证分散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23160"/>
            <a:ext cx="34930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PingFang SC"/>
              </a:defRPr>
            </a:pPr>
            <a:r>
              <a:rPr sz="1900" b="1">
                <a:solidFill>
                  <a:srgbClr val="2563EB"/>
                </a:solidFill>
                <a:latin typeface="PingFang SC"/>
                <a:ea typeface="PingFang SC"/>
              </a:rPr>
              <a:t>用同一订单串联账本与凭证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96512" y="3063240"/>
            <a:ext cx="7379208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96512" y="324612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员工服务与酬金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3767328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谁上门、做了哪单、怎么算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767328"/>
            <a:ext cx="34930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PingFang SC"/>
              </a:defRPr>
            </a:pPr>
            <a:r>
              <a:rPr sz="1900" b="1">
                <a:solidFill>
                  <a:srgbClr val="2563EB"/>
                </a:solidFill>
                <a:latin typeface="PingFang SC"/>
                <a:ea typeface="PingFang SC"/>
              </a:rPr>
              <a:t>保留打卡合影及酬金快照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2" y="4407408"/>
            <a:ext cx="7379208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96512" y="459028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老人选择与信任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5111496"/>
            <a:ext cx="3474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可选服务人员和价格不直观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111496"/>
            <a:ext cx="34930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PingFang SC"/>
              </a:defRPr>
            </a:pPr>
            <a:r>
              <a:rPr sz="1900" b="1">
                <a:solidFill>
                  <a:srgbClr val="2563EB"/>
                </a:solidFill>
                <a:latin typeface="PingFang SC"/>
                <a:ea typeface="PingFang SC"/>
              </a:rPr>
              <a:t>展示签约公司、服务员与报价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6512" y="6035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PingFang SC"/>
              </a:defRPr>
            </a:pPr>
            <a:r>
              <a:rPr sz="1100" b="0">
                <a:solidFill>
                  <a:srgbClr val="60748C"/>
                </a:solidFill>
                <a:latin typeface="PingFang SC"/>
                <a:ea typeface="PingFang SC"/>
              </a:rPr>
              <a:t>待验证：访谈负责人，核对真实台账，并完成一期试用；当前不声称已有付费客户或提效数据。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四个角色，共用一条服务记录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社区管准入和补贴，老人自主选人，公司管服务，员工留下履约凭证。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1536192" cy="85953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66543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社区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1847088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签约入驻 · 资格核定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2313432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登记公司与合同，发放高龄补贴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057400"/>
            <a:ext cx="276148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</a:rPr>
              <a:t>结算给公司有据可查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3744" y="2752344"/>
            <a:ext cx="8906256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871215"/>
            <a:ext cx="1536192" cy="85953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12724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老人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907791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自主选公司 · 自主选服务员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3374135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看项目报价、预约时段、查询服务币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3118103"/>
            <a:ext cx="276148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</a:rPr>
              <a:t>个人免费使用平台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23744" y="3813048"/>
            <a:ext cx="8906256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0080" y="3931920"/>
            <a:ext cx="1536192" cy="859536"/>
          </a:xfrm>
          <a:prstGeom prst="roundRect">
            <a:avLst>
              <a:gd name="adj" fmla="val 12000"/>
            </a:avLst>
          </a:prstGeom>
          <a:solidFill>
            <a:srgbClr val="158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1879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服务员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3968496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确认上门 · 开始打卡 · 结束合影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4434840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记录实际地址与定位、上传结束合影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4178808"/>
            <a:ext cx="276148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</a:rPr>
              <a:t>本人服务与酬金可追溯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23744" y="4873752"/>
            <a:ext cx="8906256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4992623"/>
            <a:ext cx="1536192" cy="85953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248655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5029199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管理人员项目 · 核算酬金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42032" y="5495543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处理订单与异常，导出员工结算明细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5239511"/>
            <a:ext cx="276148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</a:rPr>
              <a:t>公司是平台付费客户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先签约，再让老人自己选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本地产品实拍：社区登记合同，顾客在有效签约公司中选择服务员和服务项目。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01368"/>
            <a:ext cx="52578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PingFang SC"/>
              </a:defRPr>
            </a:pPr>
            <a:r>
              <a:rPr sz="2100" b="1">
                <a:solidFill>
                  <a:srgbClr val="2563EB"/>
                </a:solidFill>
                <a:latin typeface="PingFang SC"/>
                <a:ea typeface="PingFang SC"/>
              </a:rPr>
              <a:t>01  社区：公司签约入驻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801368"/>
            <a:ext cx="52578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58579"/>
                </a:solidFill>
                <a:latin typeface="PingFang SC"/>
              </a:defRPr>
            </a:pPr>
            <a:r>
              <a:rPr sz="2100" b="1">
                <a:solidFill>
                  <a:srgbClr val="158579"/>
                </a:solidFill>
                <a:latin typeface="PingFang SC"/>
                <a:ea typeface="PingFang SC"/>
              </a:rPr>
              <a:t>02  老人：跨公司自主选人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168" y="2391155"/>
            <a:ext cx="5043630" cy="356616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munity-contr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72" y="2423159"/>
            <a:ext cx="4979622" cy="35021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75296" y="2391155"/>
            <a:ext cx="5043630" cy="356616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ustomer-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300" y="2423159"/>
            <a:ext cx="4979622" cy="35021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" y="6025896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预约价格、酬金和地址固定保存；校验合同期、工作时段、服务员冲突和可预约余额。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让骑电瓶车的服务员，从容跑好一天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按预约顺序估算路线、天气、午餐和电量；后续逐步把顾客可见的服务进度接入订单。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10512"/>
            <a:ext cx="5532120" cy="425196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48256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次日行程预览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2093976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48C"/>
                </a:solidFill>
                <a:latin typeface="PingFang SC"/>
              </a:defRPr>
            </a:pPr>
            <a:r>
              <a:rPr sz="1200" b="0">
                <a:solidFill>
                  <a:srgbClr val="60748C"/>
                </a:solidFill>
                <a:latin typeface="PingFang SC"/>
                <a:ea typeface="PingFang SC"/>
              </a:rPr>
              <a:t>11/26 · 8小时 · 3户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651760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72491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64261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PingFang SC"/>
              </a:defRPr>
            </a:pPr>
            <a:r>
              <a:rPr sz="1700" b="1">
                <a:solidFill>
                  <a:srgbClr val="2563EB"/>
                </a:solidFill>
                <a:latin typeface="PingFang SC"/>
                <a:ea typeface="PingFang SC"/>
              </a:rPr>
              <a:t>08:30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642616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456"/>
                </a:solidFill>
                <a:latin typeface="PingFang SC"/>
              </a:defRPr>
            </a:pPr>
            <a:r>
              <a:rPr sz="1800" b="1">
                <a:solidFill>
                  <a:srgbClr val="183456"/>
                </a:solidFill>
                <a:latin typeface="PingFang SC"/>
                <a:ea typeface="PingFang SC"/>
              </a:rPr>
              <a:t>王秀英家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303580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助浴 90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724912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456"/>
                </a:solidFill>
                <a:latin typeface="PingFang SC"/>
              </a:defRPr>
            </a:pPr>
            <a:r>
              <a:rPr sz="1500" b="1">
                <a:solidFill>
                  <a:srgbClr val="183456"/>
                </a:solidFill>
                <a:latin typeface="PingFang SC"/>
                <a:ea typeface="PingFang SC"/>
              </a:rPr>
              <a:t>2.4 km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3154680"/>
            <a:ext cx="0" cy="484632"/>
          </a:xfrm>
          <a:prstGeom prst="line">
            <a:avLst/>
          </a:prstGeom>
          <a:ln w="254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32688" y="3675887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74903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66674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PingFang SC"/>
              </a:defRPr>
            </a:pPr>
            <a:r>
              <a:rPr sz="1700" b="1">
                <a:solidFill>
                  <a:srgbClr val="2563EB"/>
                </a:solidFill>
                <a:latin typeface="PingFang SC"/>
                <a:ea typeface="PingFang SC"/>
              </a:rPr>
              <a:t>11:10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744" y="3666744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456"/>
                </a:solidFill>
                <a:latin typeface="PingFang SC"/>
              </a:defRPr>
            </a:pPr>
            <a:r>
              <a:rPr sz="1800" b="1">
                <a:solidFill>
                  <a:srgbClr val="183456"/>
                </a:solidFill>
                <a:latin typeface="PingFang SC"/>
                <a:ea typeface="PingFang SC"/>
              </a:rPr>
              <a:t>陈桂芳家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4059935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助洁 60 分钟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749039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456"/>
                </a:solidFill>
                <a:latin typeface="PingFang SC"/>
              </a:defRPr>
            </a:pPr>
            <a:r>
              <a:rPr sz="1500" b="1">
                <a:solidFill>
                  <a:srgbClr val="183456"/>
                </a:solidFill>
                <a:latin typeface="PingFang SC"/>
                <a:ea typeface="PingFang SC"/>
              </a:rPr>
              <a:t>4.8 km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4178807"/>
            <a:ext cx="0" cy="484633"/>
          </a:xfrm>
          <a:prstGeom prst="line">
            <a:avLst/>
          </a:prstGeom>
          <a:ln w="254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32688" y="4700016"/>
            <a:ext cx="475488" cy="475488"/>
          </a:xfrm>
          <a:prstGeom prst="ellipse">
            <a:avLst/>
          </a:prstGeom>
          <a:solidFill>
            <a:srgbClr val="1585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77316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69087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PingFang SC"/>
              </a:defRPr>
            </a:pPr>
            <a:r>
              <a:rPr sz="1700" b="1">
                <a:solidFill>
                  <a:srgbClr val="2563EB"/>
                </a:solidFill>
                <a:latin typeface="PingFang SC"/>
                <a:ea typeface="PingFang SC"/>
              </a:rPr>
              <a:t>15:00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744" y="4690872"/>
            <a:ext cx="16824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456"/>
                </a:solidFill>
                <a:latin typeface="PingFang SC"/>
              </a:defRPr>
            </a:pPr>
            <a:r>
              <a:rPr sz="1800" b="1">
                <a:solidFill>
                  <a:srgbClr val="183456"/>
                </a:solidFill>
                <a:latin typeface="PingFang SC"/>
                <a:ea typeface="PingFang SC"/>
              </a:rPr>
              <a:t>周明德家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508406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陪医 120 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77316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83456"/>
                </a:solidFill>
                <a:latin typeface="PingFang SC"/>
              </a:defRPr>
            </a:pPr>
            <a:r>
              <a:rPr sz="1500" b="1">
                <a:solidFill>
                  <a:srgbClr val="183456"/>
                </a:solidFill>
                <a:latin typeface="PingFang SC"/>
                <a:ea typeface="PingFang SC"/>
              </a:rPr>
              <a:t>6.1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5660136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48C"/>
                </a:solidFill>
                <a:latin typeface="PingFang SC"/>
              </a:defRPr>
            </a:pPr>
            <a:r>
              <a:rPr sz="1200" b="0">
                <a:solidFill>
                  <a:srgbClr val="60748C"/>
                </a:solidFill>
                <a:latin typeface="PingFang SC"/>
                <a:ea typeface="PingFang SC"/>
              </a:rPr>
              <a:t>按订单时间和位置排序，自动预留路途、午餐与准备时间。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1819656"/>
            <a:ext cx="4965192" cy="109728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1975104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PingFang SC"/>
              </a:defRPr>
            </a:pPr>
            <a:r>
              <a:rPr sz="1900" b="1">
                <a:solidFill>
                  <a:srgbClr val="2563EB"/>
                </a:solidFill>
                <a:latin typeface="PingFang SC"/>
                <a:ea typeface="PingFang SC"/>
              </a:rPr>
              <a:t>路线与距离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1938528"/>
            <a:ext cx="2523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高德骑行路线可选；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无 Key 时使用距离估算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5976" y="2432304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8579"/>
                </a:solidFill>
                <a:latin typeface="PingFang SC"/>
              </a:defRPr>
            </a:pPr>
            <a:r>
              <a:rPr sz="1300" b="1">
                <a:solidFill>
                  <a:srgbClr val="158579"/>
                </a:solidFill>
                <a:latin typeface="PingFang SC"/>
                <a:ea typeface="PingFang SC"/>
              </a:rPr>
              <a:t>13.3 km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3154680"/>
            <a:ext cx="4965192" cy="109728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65976" y="3310128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PingFang SC"/>
              </a:defRPr>
            </a:pPr>
            <a:r>
              <a:rPr sz="1900" b="1">
                <a:solidFill>
                  <a:srgbClr val="2563EB"/>
                </a:solidFill>
                <a:latin typeface="PingFang SC"/>
                <a:ea typeface="PingFang SC"/>
              </a:rPr>
              <a:t>天气与安全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3273552"/>
            <a:ext cx="2523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雨雪降温自动降速，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提醒雨具、防滑与续航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5976" y="3767328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8579"/>
                </a:solidFill>
                <a:latin typeface="PingFang SC"/>
              </a:defRPr>
            </a:pPr>
            <a:r>
              <a:rPr sz="1300" b="1">
                <a:solidFill>
                  <a:srgbClr val="158579"/>
                </a:solidFill>
                <a:latin typeface="PingFang SC"/>
                <a:ea typeface="PingFang SC"/>
              </a:rPr>
              <a:t>小雨 18℃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088" y="4489704"/>
            <a:ext cx="4965192" cy="109728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5976" y="464515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563EB"/>
                </a:solidFill>
                <a:latin typeface="PingFang SC"/>
              </a:defRPr>
            </a:pPr>
            <a:r>
              <a:rPr sz="1900" b="1">
                <a:solidFill>
                  <a:srgbClr val="2563EB"/>
                </a:solidFill>
                <a:latin typeface="PingFang SC"/>
                <a:ea typeface="PingFang SC"/>
              </a:rPr>
              <a:t>中餐与电量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4608576"/>
            <a:ext cx="252374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跨午餐自动留时；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估算载重、温度和里程耗电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976" y="5102352"/>
            <a:ext cx="15727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58579"/>
                </a:solidFill>
                <a:latin typeface="PingFang SC"/>
              </a:defRPr>
            </a:pPr>
            <a:r>
              <a:rPr sz="1300" b="1">
                <a:solidFill>
                  <a:srgbClr val="158579"/>
                </a:solidFill>
                <a:latin typeface="PingFang SC"/>
                <a:ea typeface="PingFang SC"/>
              </a:rPr>
              <a:t>午休 12:00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19088" y="5724144"/>
            <a:ext cx="4965192" cy="338328"/>
          </a:xfrm>
          <a:prstGeom prst="roundRect">
            <a:avLst>
              <a:gd name="adj" fmla="val 12000"/>
            </a:avLst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5769864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当前可查次日行程；自动推送提醒列为下一阶段。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从“点完成”到留下可核验凭证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服务开始前地址打卡；结束后提交与老人合影，缺少任一项就不能完成扣款。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401" y="1760220"/>
            <a:ext cx="4718589" cy="333756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orker-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05" y="1792224"/>
            <a:ext cx="4654581" cy="32735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28673" y="1760220"/>
            <a:ext cx="4718589" cy="3337560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 w="12700"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orker-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77" y="1792224"/>
            <a:ext cx="4654581" cy="3273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266944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563EB"/>
                </a:solidFill>
                <a:latin typeface="PingFang SC"/>
              </a:defRPr>
            </a:pPr>
            <a:r>
              <a:rPr sz="2000" b="1">
                <a:solidFill>
                  <a:srgbClr val="2563EB"/>
                </a:solidFill>
                <a:latin typeface="PingFang SC"/>
                <a:ea typeface="PingFang SC"/>
              </a:rPr>
              <a:t>开始：地址＋定位＋时间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51576"/>
            <a:ext cx="5184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WGS84 坐标、定位精度、服务器打卡时间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5266944"/>
            <a:ext cx="5166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563EB"/>
                </a:solidFill>
                <a:latin typeface="PingFang SC"/>
              </a:defRPr>
            </a:pPr>
            <a:r>
              <a:rPr sz="2000" b="1">
                <a:solidFill>
                  <a:srgbClr val="2563EB"/>
                </a:solidFill>
                <a:latin typeface="PingFang SC"/>
                <a:ea typeface="PingFang SC"/>
              </a:rPr>
              <a:t>结束：合影＋授权＋时间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5751576"/>
            <a:ext cx="51846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照片授权访问、SHA256、服务器完成时间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充值、补贴、消费，每笔都能查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服务币是内部结算记账单位；保留原始流水，差错以退款或冲正追加处理。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陈桂芳的演示账户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2505456"/>
            <a:ext cx="2002536" cy="1179576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883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期初额度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9816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3456"/>
                </a:solidFill>
                <a:latin typeface="PingFang SC"/>
              </a:defRPr>
            </a:pPr>
            <a:r>
              <a:rPr sz="2700" b="1">
                <a:solidFill>
                  <a:srgbClr val="183456"/>
                </a:solidFill>
                <a:latin typeface="PingFang SC"/>
                <a:ea typeface="PingFang SC"/>
              </a:rPr>
              <a:t>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505456"/>
            <a:ext cx="2002536" cy="1179576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6883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社区补贴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099816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3456"/>
                </a:solidFill>
                <a:latin typeface="PingFang SC"/>
              </a:defRPr>
            </a:pPr>
            <a:r>
              <a:rPr sz="2700" b="1">
                <a:solidFill>
                  <a:srgbClr val="183456"/>
                </a:solidFill>
                <a:latin typeface="PingFang SC"/>
                <a:ea typeface="PingFang SC"/>
              </a:rPr>
              <a:t>+200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72" y="2505456"/>
            <a:ext cx="2002536" cy="1179576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26883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充值记账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3099816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3456"/>
                </a:solidFill>
                <a:latin typeface="PingFang SC"/>
              </a:defRPr>
            </a:pPr>
            <a:r>
              <a:rPr sz="2700" b="1">
                <a:solidFill>
                  <a:srgbClr val="183456"/>
                </a:solidFill>
                <a:latin typeface="PingFang SC"/>
                <a:ea typeface="PingFang SC"/>
              </a:rPr>
              <a:t>+100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4" y="2505456"/>
            <a:ext cx="2002536" cy="1179576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26883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两笔服务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3099816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3456"/>
                </a:solidFill>
                <a:latin typeface="PingFang SC"/>
              </a:defRPr>
            </a:pPr>
            <a:r>
              <a:rPr sz="2700" b="1">
                <a:solidFill>
                  <a:srgbClr val="183456"/>
                </a:solidFill>
                <a:latin typeface="PingFang SC"/>
                <a:ea typeface="PingFang SC"/>
              </a:rPr>
              <a:t>−180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92056" y="2505456"/>
            <a:ext cx="2002536" cy="117957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268833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PingFang SC"/>
              </a:defRPr>
            </a:pPr>
            <a:r>
              <a:rPr sz="1600" b="0">
                <a:solidFill>
                  <a:srgbClr val="FFFFFF"/>
                </a:solidFill>
                <a:latin typeface="PingFang SC"/>
                <a:ea typeface="PingFang SC"/>
              </a:rPr>
              <a:t>当前余额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3099816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</a:rPr>
              <a:t>720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965960" cy="443484"/>
          </a:xfrm>
          <a:prstGeom prst="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142232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流水动作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4023360"/>
            <a:ext cx="5029200" cy="443484"/>
          </a:xfrm>
          <a:prstGeom prst="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25496" y="4142232"/>
            <a:ext cx="4791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可查询的依据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4023360"/>
            <a:ext cx="3749039" cy="443484"/>
          </a:xfrm>
          <a:prstGeom prst="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54696" y="414223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对账用途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80560"/>
            <a:ext cx="1965960" cy="443484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599432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补贴 / 充值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4480560"/>
            <a:ext cx="5029200" cy="443484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25496" y="4599432"/>
            <a:ext cx="4791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批次号、凭据、操作人、时间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4480560"/>
            <a:ext cx="3749039" cy="443484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54696" y="459943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查明服务币从哪里来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937760"/>
            <a:ext cx="1965960" cy="4434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056632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服务消费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97480" y="4937760"/>
            <a:ext cx="5029200" cy="4434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25496" y="5056632"/>
            <a:ext cx="4791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订单、公司、服务员、打卡、合影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6679" y="4937760"/>
            <a:ext cx="3749039" cy="4434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54696" y="505663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查明服务币花在哪里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394960"/>
            <a:ext cx="1965960" cy="443484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513832"/>
            <a:ext cx="1728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退款 / 冲正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5394960"/>
            <a:ext cx="5029200" cy="443484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25496" y="5513832"/>
            <a:ext cx="4791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原记录引用、原因、新流水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79" y="5394960"/>
            <a:ext cx="3749039" cy="443484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54696" y="5513832"/>
            <a:ext cx="3511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0344C"/>
                </a:solidFill>
                <a:latin typeface="PingFang SC"/>
              </a:defRPr>
            </a:pPr>
            <a:r>
              <a:rPr sz="1500" b="0">
                <a:solidFill>
                  <a:srgbClr val="20344C"/>
                </a:solidFill>
                <a:latin typeface="PingFang SC"/>
                <a:ea typeface="PingFang SC"/>
              </a:rPr>
              <a:t>保留原账，形成负数调整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025896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748C"/>
                </a:solidFill>
                <a:latin typeface="PingFang SC"/>
              </a:defRPr>
            </a:pPr>
            <a:r>
              <a:rPr sz="1200" b="0">
                <a:solidFill>
                  <a:srgbClr val="60748C"/>
                </a:solidFill>
                <a:latin typeface="PingFang SC"/>
                <a:ea typeface="PingFang SC"/>
              </a:rPr>
              <a:t>所有数值均为虚构样例。服务币与人民币的兑付规则由合同约定；充值记录不代表系统已实际收款。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一份履约记录，支持两层结算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社区核对公司服务净额，公司核算员工酬金；两层分别防止重复计入。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08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3337560" cy="516635"/>
          </a:xfrm>
          <a:prstGeom prst="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1"/>
            <a:ext cx="3099815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订单 / 公司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874519"/>
            <a:ext cx="3886200" cy="516635"/>
          </a:xfrm>
          <a:prstGeom prst="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7096" y="1993391"/>
            <a:ext cx="36484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服务项目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874519"/>
            <a:ext cx="1828800" cy="516635"/>
          </a:xfrm>
          <a:prstGeom prst="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1993391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服务币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874519"/>
            <a:ext cx="1828800" cy="516635"/>
          </a:xfrm>
          <a:prstGeom prst="rect">
            <a:avLst/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2096" y="1993391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酬金单位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4872"/>
            <a:ext cx="333756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523744"/>
            <a:ext cx="3099815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#1 安心养老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2404872"/>
            <a:ext cx="388620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2523744"/>
            <a:ext cx="36484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助浴 · 90分钟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404872"/>
            <a:ext cx="182880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2523744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120.00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404872"/>
            <a:ext cx="182880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2096" y="2523744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67.50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35224"/>
            <a:ext cx="333756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054096"/>
            <a:ext cx="3099815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#2 安心养老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9080" y="2935224"/>
            <a:ext cx="38862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97096" y="3054096"/>
            <a:ext cx="36484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助洁 · 60分钟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2935224"/>
            <a:ext cx="18288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3054096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60.00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935224"/>
            <a:ext cx="18288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12096" y="3054096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40.00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465575"/>
            <a:ext cx="333756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3584447"/>
            <a:ext cx="3099815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#3 康乐养老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3465575"/>
            <a:ext cx="388620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97096" y="3584447"/>
            <a:ext cx="36484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陪医 · 120分钟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3465575"/>
            <a:ext cx="182880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3584447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120.00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3465575"/>
            <a:ext cx="1828800" cy="516635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12096" y="3584447"/>
            <a:ext cx="1591056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0344C"/>
                </a:solidFill>
                <a:latin typeface="PingFang SC"/>
              </a:defRPr>
            </a:pPr>
            <a:r>
              <a:rPr sz="1700" b="0">
                <a:solidFill>
                  <a:srgbClr val="20344C"/>
                </a:solidFill>
                <a:latin typeface="PingFang SC"/>
                <a:ea typeface="PingFang SC"/>
              </a:rPr>
              <a:t>80.00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407408"/>
            <a:ext cx="5257800" cy="1545336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" y="4590288"/>
            <a:ext cx="4855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PingFang SC"/>
              </a:defRPr>
            </a:pPr>
            <a:r>
              <a:rPr sz="2100" b="1">
                <a:solidFill>
                  <a:srgbClr val="2563EB"/>
                </a:solidFill>
                <a:latin typeface="PingFang SC"/>
                <a:ea typeface="PingFang SC"/>
              </a:rPr>
              <a:t>社区 → 养老公司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093208"/>
            <a:ext cx="485546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安心：180 服务币；康乐：120 服务币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合计 300 服务币，附订单与凭证明细。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91072" y="4407408"/>
            <a:ext cx="5166360" cy="1545336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590288"/>
            <a:ext cx="4764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563EB"/>
                </a:solidFill>
                <a:latin typeface="PingFang SC"/>
              </a:defRPr>
            </a:pPr>
            <a:r>
              <a:rPr sz="2100" b="1">
                <a:solidFill>
                  <a:srgbClr val="2563EB"/>
                </a:solidFill>
                <a:latin typeface="PingFang SC"/>
                <a:ea typeface="PingFang SC"/>
              </a:rPr>
              <a:t>养老公司 → 员工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093208"/>
            <a:ext cx="4764024" cy="740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王秀英：107.50；赵春梅：80.00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合计 187.50 酬金核算单位，按约定兑付。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可以接的一单：公司养老服务数字化配置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交付给一家养老公司：能用的本地产品、操作培训，以及一份可逐单追溯的结算样例。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09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38528"/>
            <a:ext cx="3538728" cy="3355848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0370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563EB"/>
                </a:solidFill>
                <a:latin typeface="PingFang SC"/>
              </a:defRPr>
            </a:pPr>
            <a:r>
              <a:rPr sz="3600" b="1">
                <a:solidFill>
                  <a:srgbClr val="2563EB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72384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安装与初始化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877056"/>
            <a:ext cx="3035808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Mac 安装、公司人员与项目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社区合同、老人资格及补贴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938528"/>
            <a:ext cx="3538728" cy="3355848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20370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563EB"/>
                </a:solidFill>
                <a:latin typeface="PingFang SC"/>
              </a:defRPr>
            </a:pPr>
            <a:r>
              <a:rPr sz="3600" b="1">
                <a:solidFill>
                  <a:srgbClr val="2563EB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072384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预约到履约演示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877056"/>
            <a:ext cx="3035808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自主选人、改期与异常处理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开始定位打卡、结束合影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3" y="1938528"/>
            <a:ext cx="3538728" cy="3355848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13063" y="220370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2563EB"/>
                </a:solidFill>
                <a:latin typeface="PingFang SC"/>
              </a:defRPr>
            </a:pPr>
            <a:r>
              <a:rPr sz="3600" b="1">
                <a:solidFill>
                  <a:srgbClr val="2563EB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3072384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结算明细与交接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3" y="3877056"/>
            <a:ext cx="3035808" cy="1033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结算 CSV、逐笔服务账本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0748C"/>
                </a:solidFill>
                <a:latin typeface="PingFang SC"/>
              </a:defRPr>
            </a:pPr>
            <a:r>
              <a:rPr sz="1600" b="0">
                <a:solidFill>
                  <a:srgbClr val="60748C"/>
                </a:solidFill>
                <a:latin typeface="PingFang SC"/>
                <a:ea typeface="PingFang SC"/>
              </a:rPr>
              <a:t>PPT、HTML 与操作说明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60527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58579"/>
                </a:solidFill>
                <a:latin typeface="PingFang SC"/>
              </a:defRPr>
            </a:pPr>
            <a:r>
              <a:rPr sz="1800" b="1">
                <a:solidFill>
                  <a:srgbClr val="158579"/>
                </a:solidFill>
                <a:latin typeface="PingFang SC"/>
                <a:ea typeface="PingFang SC"/>
              </a:rPr>
              <a:t>交付验收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605272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456"/>
                </a:solidFill>
                <a:latin typeface="PingFang SC"/>
              </a:defRPr>
            </a:pPr>
            <a:r>
              <a:rPr sz="1800" b="1">
                <a:solidFill>
                  <a:srgbClr val="183456"/>
                </a:solidFill>
                <a:latin typeface="PingFang SC"/>
                <a:ea typeface="PingFang SC"/>
              </a:rPr>
              <a:t>能登录四端 → 能预约与留痕 → 能查询原始账本 → 能导出两层结算。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只向公司收费，先验证订阅意愿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公司为管理工具与持续服务付费；个人、社区免平台使用费。正式价格尚未确定。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154680" cy="22860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12848"/>
            <a:ext cx="26974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456"/>
                </a:solidFill>
                <a:latin typeface="PingFang SC"/>
              </a:defRPr>
            </a:pPr>
            <a:r>
              <a:rPr sz="2200" b="1">
                <a:solidFill>
                  <a:srgbClr val="183456"/>
                </a:solidFill>
                <a:latin typeface="PingFang SC"/>
                <a:ea typeface="PingFang SC"/>
              </a:rPr>
              <a:t>小团队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80360"/>
            <a:ext cx="271576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563EB"/>
                </a:solidFill>
                <a:latin typeface="PingFang SC"/>
              </a:defRPr>
            </a:pPr>
            <a:r>
              <a:rPr sz="2900" b="1">
                <a:solidFill>
                  <a:srgbClr val="2563EB"/>
                </a:solidFill>
                <a:latin typeface="PingFang SC"/>
                <a:ea typeface="PingFang SC"/>
              </a:rPr>
              <a:t>¥299 /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685032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48C"/>
                </a:solidFill>
                <a:latin typeface="PingFang SC"/>
              </a:defRPr>
            </a:pPr>
            <a:r>
              <a:rPr sz="1300" b="0">
                <a:solidFill>
                  <a:srgbClr val="60748C"/>
                </a:solidFill>
                <a:latin typeface="PingFang SC"/>
                <a:ea typeface="PingFang SC"/>
              </a:rPr>
              <a:t>每公司 · 不超过10名服务员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136" y="1965960"/>
            <a:ext cx="3154680" cy="22860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212848"/>
            <a:ext cx="26974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456"/>
                </a:solidFill>
                <a:latin typeface="PingFang SC"/>
              </a:defRPr>
            </a:pPr>
            <a:r>
              <a:rPr sz="2200" b="1">
                <a:solidFill>
                  <a:srgbClr val="183456"/>
                </a:solidFill>
                <a:latin typeface="PingFang SC"/>
                <a:ea typeface="PingFang SC"/>
              </a:rPr>
              <a:t>成长团队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880360"/>
            <a:ext cx="271576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563EB"/>
                </a:solidFill>
                <a:latin typeface="PingFang SC"/>
              </a:defRPr>
            </a:pPr>
            <a:r>
              <a:rPr sz="2900" b="1">
                <a:solidFill>
                  <a:srgbClr val="2563EB"/>
                </a:solidFill>
                <a:latin typeface="PingFang SC"/>
                <a:ea typeface="PingFang SC"/>
              </a:rPr>
              <a:t>¥699 /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685032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48C"/>
                </a:solidFill>
                <a:latin typeface="PingFang SC"/>
              </a:defRPr>
            </a:pPr>
            <a:r>
              <a:rPr sz="1300" b="0">
                <a:solidFill>
                  <a:srgbClr val="60748C"/>
                </a:solidFill>
                <a:latin typeface="PingFang SC"/>
                <a:ea typeface="PingFang SC"/>
              </a:rPr>
              <a:t>每公司 · 不超过30名服务员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965960"/>
            <a:ext cx="3154680" cy="2286000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2212848"/>
            <a:ext cx="26974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456"/>
                </a:solidFill>
                <a:latin typeface="PingFang SC"/>
              </a:defRPr>
            </a:pPr>
            <a:r>
              <a:rPr sz="2200" b="1">
                <a:solidFill>
                  <a:srgbClr val="183456"/>
                </a:solidFill>
                <a:latin typeface="PingFang SC"/>
                <a:ea typeface="PingFang SC"/>
              </a:rPr>
              <a:t>更大规模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880360"/>
            <a:ext cx="271576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2563EB"/>
                </a:solidFill>
                <a:latin typeface="PingFang SC"/>
              </a:defRPr>
            </a:pPr>
            <a:r>
              <a:rPr sz="2900" b="1">
                <a:solidFill>
                  <a:srgbClr val="2563EB"/>
                </a:solidFill>
                <a:latin typeface="PingFang SC"/>
                <a:ea typeface="PingFang SC"/>
              </a:rPr>
              <a:t>协商报价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3685032"/>
            <a:ext cx="2724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0748C"/>
                </a:solidFill>
                <a:latin typeface="PingFang SC"/>
              </a:defRPr>
            </a:pPr>
            <a:r>
              <a:rPr sz="1300" b="0">
                <a:solidFill>
                  <a:srgbClr val="60748C"/>
                </a:solidFill>
                <a:latin typeface="PingFang SC"/>
                <a:ea typeface="PingFang SC"/>
              </a:rPr>
              <a:t>按人员规模与服务需求评估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10716768" cy="1335024"/>
          </a:xfrm>
          <a:prstGeom prst="roundRect">
            <a:avLst>
              <a:gd name="adj" fmla="val 12000"/>
            </a:avLst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PingFang SC"/>
              </a:defRPr>
            </a:pPr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待验证的建议报价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440680"/>
            <a:ext cx="10104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7E2EF"/>
                </a:solidFill>
                <a:latin typeface="PingFang SC"/>
              </a:defRPr>
            </a:pPr>
            <a:r>
              <a:rPr sz="1600" b="0">
                <a:solidFill>
                  <a:srgbClr val="D7E2EF"/>
                </a:solidFill>
                <a:latin typeface="PingFang SC"/>
                <a:ea typeface="PingFang SC"/>
              </a:rPr>
              <a:t>先访谈公司 → 用一期结算表试用 → 核对节省的工作量 → 确认付费与续用意愿。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让可信服务被更多人看见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在现有高龄补贴模式之外，逐步开放普通预约与服务员分享名片，让好服务员不依赖 AI 也能受益。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0748C"/>
                </a:solidFill>
                <a:latin typeface="PingFang SC"/>
              </a:defRPr>
            </a:pPr>
            <a:r>
              <a:rPr sz="1800" b="1">
                <a:solidFill>
                  <a:srgbClr val="60748C"/>
                </a:solidFill>
                <a:latin typeface="PingFang SC"/>
                <a:ea typeface="PingFang SC"/>
              </a:rPr>
              <a:t>现有：社区补贴模式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04288"/>
            <a:ext cx="3127248" cy="3456432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96896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老人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82112"/>
            <a:ext cx="252374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按服务币预约与结算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社区发补贴，公司提供服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保留打卡、合影与双层账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1051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0748C"/>
                </a:solidFill>
                <a:latin typeface="PingFang SC"/>
              </a:defRPr>
            </a:pPr>
            <a:r>
              <a:rPr sz="1800" b="1">
                <a:solidFill>
                  <a:srgbClr val="60748C"/>
                </a:solidFill>
                <a:latin typeface="PingFang SC"/>
                <a:ea typeface="PingFang SC"/>
              </a:rPr>
              <a:t>下一步：普通预约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2304288"/>
            <a:ext cx="3127248" cy="3456432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596896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普通顾客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82112"/>
            <a:ext cx="252374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只做预约，线下自行结算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不发放、不使用服务币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不进入老人补贴账本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810512"/>
            <a:ext cx="31638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0748C"/>
                </a:solidFill>
                <a:latin typeface="PingFang SC"/>
              </a:defRPr>
            </a:pPr>
            <a:r>
              <a:rPr sz="1800" b="1">
                <a:solidFill>
                  <a:srgbClr val="60748C"/>
                </a:solidFill>
                <a:latin typeface="PingFang SC"/>
                <a:ea typeface="PingFang SC"/>
              </a:rPr>
              <a:t>增长：服务名片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2304288"/>
            <a:ext cx="3127248" cy="3456432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13064" y="2596896"/>
            <a:ext cx="26334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3456"/>
                </a:solidFill>
                <a:latin typeface="PingFang SC"/>
              </a:defRPr>
            </a:pPr>
            <a:r>
              <a:rPr sz="2300" b="1">
                <a:solidFill>
                  <a:srgbClr val="183456"/>
                </a:solidFill>
                <a:latin typeface="PingFang SC"/>
                <a:ea typeface="PingFang SC"/>
              </a:rPr>
              <a:t>分享链接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3182112"/>
            <a:ext cx="252374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展示项目、可预约时间与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履历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分享给亲友或社区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0748C"/>
                </a:solidFill>
                <a:latin typeface="PingFang SC"/>
              </a:defRPr>
            </a:pPr>
            <a:r>
              <a:rPr sz="1700" b="0">
                <a:solidFill>
                  <a:srgbClr val="60748C"/>
                </a:solidFill>
                <a:latin typeface="PingFang SC"/>
                <a:ea typeface="PingFang SC"/>
              </a:rPr>
              <a:t>优秀服务员被更多人看见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943600"/>
            <a:ext cx="10643616" cy="292608"/>
          </a:xfrm>
          <a:prstGeom prst="roundRect">
            <a:avLst>
              <a:gd name="adj" fmla="val 12000"/>
            </a:avLst>
          </a:prstGeom>
          <a:solidFill>
            <a:srgbClr val="18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5980176"/>
            <a:ext cx="101681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PingFang SC"/>
              </a:defRPr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AI 在后台帮忙：路线、提醒、服务摘要与异常提示；一线服务员只需会用手机。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上门养老，产品先解决“安全与长期信任”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服务进入私人家庭，家属会把老人交给一个可以持续联系的人；仅有好评分或一张照片不够。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10512"/>
            <a:ext cx="4956048" cy="1572768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1975104"/>
            <a:ext cx="2615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私人家庭边界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3088" y="1993392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</a:rPr>
              <a:t>授权与范围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468880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进门之前明确身份、地址、老人授权与家属联系人；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照片只在完成流程中出现，访问范围受控。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810512"/>
            <a:ext cx="4956048" cy="1572768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75104"/>
            <a:ext cx="2615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老人安全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65208" y="1993392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</a:rPr>
              <a:t>可追溯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68880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合同准入、项目与工作时间共同校验；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实际地址打卡、结束合影和异常记录形成时间链。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685031"/>
            <a:ext cx="4956048" cy="1572768"/>
          </a:xfrm>
          <a:prstGeom prst="roundRect">
            <a:avLst>
              <a:gd name="adj" fmla="val 12000"/>
            </a:avLst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7" y="3849623"/>
            <a:ext cx="2615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长期可信任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3867911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</a:rPr>
              <a:t>连续性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4343399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尽量保持熟悉的服务员并积累履历；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透明报价和结算让老人、家属、公司说同一套事实。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685031"/>
            <a:ext cx="4956048" cy="1572768"/>
          </a:xfrm>
          <a:prstGeom prst="roundRect">
            <a:avLst>
              <a:gd name="adj" fmla="val 12000"/>
            </a:avLst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849623"/>
            <a:ext cx="2615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3456"/>
                </a:solidFill>
                <a:latin typeface="PingFang SC"/>
              </a:defRPr>
            </a:pPr>
            <a:r>
              <a:rPr sz="2100" b="1">
                <a:solidFill>
                  <a:srgbClr val="183456"/>
                </a:solidFill>
                <a:latin typeface="PingFang SC"/>
                <a:ea typeface="PingFang SC"/>
              </a:rPr>
              <a:t>人的尊严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3867911"/>
            <a:ext cx="1261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</a:rPr>
              <a:t>有温度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343399"/>
            <a:ext cx="44348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不上传无关隐私，不用“AI 识别一张脸”替代人工核验；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让技术把记录做清楚，把照护留给人。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852160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PingFang SC"/>
              </a:defRPr>
            </a:pPr>
            <a:r>
              <a:rPr sz="1600" b="1">
                <a:solidFill>
                  <a:srgbClr val="2563EB"/>
                </a:solidFill>
                <a:latin typeface="PingFang SC"/>
                <a:ea typeface="PingFang SC"/>
              </a:rPr>
              <a:t>与普通到店服务相比，上门服务买的不是一次交易，而是进入家庭之后的安心。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48056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3456"/>
                </a:solidFill>
                <a:latin typeface="PingFang SC"/>
              </a:defRPr>
            </a:pPr>
            <a:r>
              <a:rPr sz="2900" b="1">
                <a:solidFill>
                  <a:srgbClr val="183456"/>
                </a:solidFill>
                <a:latin typeface="PingFang SC"/>
                <a:ea typeface="PingFang SC"/>
              </a:rPr>
              <a:t>评委可以这样验收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15568"/>
            <a:ext cx="10927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60748C"/>
                </a:solidFill>
                <a:latin typeface="PingFang SC"/>
              </a:defRPr>
            </a:pPr>
            <a:r>
              <a:rPr sz="1550" b="0">
                <a:solidFill>
                  <a:srgbClr val="60748C"/>
                </a:solidFill>
                <a:latin typeface="PingFang SC"/>
                <a:ea typeface="PingFang SC"/>
              </a:rPr>
              <a:t>可运行产品＋一份样例交付，围绕真实需求、可用服务、交付价值与商业思路展示。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437376"/>
            <a:ext cx="10945368" cy="0"/>
          </a:xfrm>
          <a:prstGeom prst="line">
            <a:avLst/>
          </a:prstGeom>
          <a:ln w="889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47104"/>
            <a:ext cx="6858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950" b="0">
                <a:solidFill>
                  <a:srgbClr val="60748C"/>
                </a:solidFill>
                <a:latin typeface="PingFang SC"/>
              </a:defRPr>
            </a:pPr>
            <a:r>
              <a:rPr sz="950" b="0">
                <a:solidFill>
                  <a:srgbClr val="60748C"/>
                </a:solidFill>
                <a:latin typeface="PingFang SC"/>
                <a:ea typeface="PingFang SC"/>
              </a:rPr>
              <a:t>颐养通 · 社区养老服务协同与结算依据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528816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748C"/>
                </a:solidFill>
                <a:latin typeface="Arial"/>
              </a:defRPr>
            </a:pPr>
            <a:r>
              <a:rPr sz="1100" b="0">
                <a:solidFill>
                  <a:srgbClr val="60748C"/>
                </a:solidFill>
                <a:latin typeface="Arial"/>
                <a:ea typeface="PingFang SC"/>
              </a:rPr>
              <a:t>13 / 13</a:t>
            </a:r>
          </a:p>
        </p:txBody>
      </p:sp>
      <p:sp>
        <p:nvSpPr>
          <p:cNvPr id="7" name="Oval 6"/>
          <p:cNvSpPr/>
          <p:nvPr/>
        </p:nvSpPr>
        <p:spPr>
          <a:xfrm>
            <a:off x="740664" y="1856231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938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92807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456"/>
                </a:solidFill>
                <a:latin typeface="PingFang SC"/>
              </a:defRPr>
            </a:pPr>
            <a:r>
              <a:rPr sz="2200" b="1">
                <a:solidFill>
                  <a:srgbClr val="183456"/>
                </a:solidFill>
                <a:latin typeface="PingFang SC"/>
                <a:ea typeface="PingFang SC"/>
              </a:rPr>
              <a:t>看客户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29384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48C"/>
                </a:solidFill>
                <a:latin typeface="PingFang SC"/>
              </a:defRPr>
            </a:pPr>
            <a:r>
              <a:rPr sz="1800" b="0">
                <a:solidFill>
                  <a:srgbClr val="60748C"/>
                </a:solidFill>
                <a:latin typeface="PingFang SC"/>
                <a:ea typeface="PingFang SC"/>
              </a:rPr>
              <a:t>公司负责人为谁采购、交付什么；社区与个人为何免费。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" y="2752344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25496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88920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456"/>
                </a:solidFill>
                <a:latin typeface="PingFang SC"/>
              </a:defRPr>
            </a:pPr>
            <a:r>
              <a:rPr sz="2200" b="1">
                <a:solidFill>
                  <a:srgbClr val="183456"/>
                </a:solidFill>
                <a:latin typeface="PingFang SC"/>
                <a:ea typeface="PingFang SC"/>
              </a:rPr>
              <a:t>用产品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25496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48C"/>
                </a:solidFill>
                <a:latin typeface="PingFang SC"/>
              </a:defRPr>
            </a:pPr>
            <a:r>
              <a:rPr sz="1800" b="0">
                <a:solidFill>
                  <a:srgbClr val="60748C"/>
                </a:solidFill>
                <a:latin typeface="PingFang SC"/>
                <a:ea typeface="PingFang SC"/>
              </a:rPr>
              <a:t>社区查看合同与补贴；老人选人；服务员打卡及合影。</a:t>
            </a:r>
          </a:p>
        </p:txBody>
      </p:sp>
      <p:sp>
        <p:nvSpPr>
          <p:cNvPr id="15" name="Oval 14"/>
          <p:cNvSpPr/>
          <p:nvPr/>
        </p:nvSpPr>
        <p:spPr>
          <a:xfrm>
            <a:off x="740664" y="3648456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21607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85031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456"/>
                </a:solidFill>
                <a:latin typeface="PingFang SC"/>
              </a:defRPr>
            </a:pPr>
            <a:r>
              <a:rPr sz="2200" b="1">
                <a:solidFill>
                  <a:srgbClr val="183456"/>
                </a:solidFill>
                <a:latin typeface="PingFang SC"/>
                <a:ea typeface="PingFang SC"/>
              </a:rPr>
              <a:t>查交付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21607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48C"/>
                </a:solidFill>
                <a:latin typeface="PingFang SC"/>
              </a:defRPr>
            </a:pPr>
            <a:r>
              <a:rPr sz="1800" b="0">
                <a:solidFill>
                  <a:srgbClr val="60748C"/>
                </a:solidFill>
                <a:latin typeface="PingFang SC"/>
                <a:ea typeface="PingFang SC"/>
              </a:rPr>
              <a:t>一笔消费追溯到订单和凭证，双层结算表与账本能对上。</a:t>
            </a:r>
          </a:p>
        </p:txBody>
      </p:sp>
      <p:sp>
        <p:nvSpPr>
          <p:cNvPr id="19" name="Oval 18"/>
          <p:cNvSpPr/>
          <p:nvPr/>
        </p:nvSpPr>
        <p:spPr>
          <a:xfrm>
            <a:off x="740664" y="4544568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17720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PingFang SC"/>
              </a:defRPr>
            </a:pPr>
            <a:r>
              <a:rPr sz="17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581144"/>
            <a:ext cx="2011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3456"/>
                </a:solidFill>
                <a:latin typeface="PingFang SC"/>
              </a:defRPr>
            </a:pPr>
            <a:r>
              <a:rPr sz="2200" b="1">
                <a:solidFill>
                  <a:srgbClr val="183456"/>
                </a:solidFill>
                <a:latin typeface="PingFang SC"/>
                <a:ea typeface="PingFang SC"/>
              </a:rPr>
              <a:t>问商业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61772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748C"/>
                </a:solidFill>
                <a:latin typeface="PingFang SC"/>
              </a:defRPr>
            </a:pPr>
            <a:r>
              <a:rPr sz="1800" b="0">
                <a:solidFill>
                  <a:srgbClr val="60748C"/>
                </a:solidFill>
                <a:latin typeface="PingFang SC"/>
                <a:ea typeface="PingFang SC"/>
              </a:rPr>
              <a:t>价格标为建议，下一步验证真实公司需求与付费意愿。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623560"/>
            <a:ext cx="10698480" cy="0"/>
          </a:xfrm>
          <a:prstGeom prst="line">
            <a:avLst/>
          </a:prstGeom>
          <a:ln w="1524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9808" y="5833872"/>
            <a:ext cx="580644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PingFang SC"/>
              </a:defRPr>
            </a:pPr>
            <a:r>
              <a:rPr sz="1800" b="1">
                <a:solidFill>
                  <a:srgbClr val="2563EB"/>
                </a:solidFill>
                <a:latin typeface="PingFang SC"/>
                <a:ea typeface="PingFang SC"/>
              </a:rPr>
              <a:t>本地体验  http://127.0.0.1:8000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5870448"/>
            <a:ext cx="5550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748C"/>
                </a:solidFill>
                <a:latin typeface="PingFang SC"/>
              </a:defRPr>
            </a:pPr>
            <a:r>
              <a:rPr sz="1400" b="0">
                <a:solidFill>
                  <a:srgbClr val="60748C"/>
                </a:solidFill>
                <a:latin typeface="PingFang SC"/>
                <a:ea typeface="PingFang SC"/>
              </a:rPr>
              <a:t>提交：PPT / PDF / HTML / CSV / 视频 / 封面 / 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颐养通｜社区养老服务协同与结算依据</dc:title>
  <dc:subject>比赛项目介绍：客户、服务、产品、交付与商业方案</dc:subject>
  <dc:creator>颐养通项目</dc:creator>
  <cp:keywords>居家养老,公司订阅,个人免费,社区免费,演示样例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